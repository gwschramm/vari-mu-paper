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2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194" y="7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CC30CC-3132-41DD-C5B5-E0DFA2FF5C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FDEB2-C1EA-F56C-5E6C-04C7C562DF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D84B3B-6E82-8DD2-D957-8A69BD276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B4C479-CF09-27FB-B56B-7EF07ADBA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891924-29E5-6C9F-77A6-609348970A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56646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46948-702E-4949-7E67-33E32CAA0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420C09-A24C-0A4E-D394-7437DFECDE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72CEA-8809-10AA-EC0D-622F153AD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A009FF-48AA-72EA-FF88-B8D1DF90B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6FF912-DA3B-9AA6-E0D7-AB3180C2E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356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D9915-E340-4C95-2662-5E020E563F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2F9CAA-C9D2-C705-7CEA-EB42181E65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35EC1B-60C0-175D-5645-454885A537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59C052-F350-C41B-8495-CD040996E7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96186F-F532-78BD-DAED-1F0A209EA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285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66936-6821-7D23-CE6F-561A0F1FA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34E1F-B52B-25E5-39C4-F2102CF275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F36A1-C77F-9FC0-8DE7-0A25C5B622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C39577-14B5-B74A-2EAA-2FA1E96818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17C1F5-F787-09A5-8EDB-CA458BAC0F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3F72C9-A0B2-E1F5-DC1E-26CB192A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3237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F8ED5-358B-FE51-0FA3-BF9A1E89D1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A60D71-72AE-397A-AB48-3D9D224B26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4AB25B-6F15-3DAB-1CF1-B250E62E77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89C662-0A6C-8E2F-E831-F3FD7C6481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2B5998-934F-4CA0-AD30-0039AB3044B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36F606-747C-D9E8-07B2-2E1AB41C6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F94D295-CFEA-9DF1-BB9A-7F7E2AC99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2D9CCC0-A0B3-F211-084A-9D849D201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90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93AAF-D64D-060F-CD1C-BAEC9CFC99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BCE8DC-761C-B310-2840-D22AE2E5B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B4F1-6045-F95D-0F36-78C305EDC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3DD254-7591-B213-7FAB-95F0FA3736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988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4F360F-DD14-5779-A5F9-B764A0551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A245E5-7B53-B852-E5C3-81759A4D28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7FC995-16AB-661D-3BCF-CC8165817E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855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68871-9B6C-9093-CA47-88E48BB9BA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2BC271-8D44-FE8A-B56B-679CE2EC0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08071C-375C-5CFD-C8A0-E3EF10BC10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8517B7-7AF5-4D0D-88B2-0068EBF67F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945BF8-488C-2574-CC98-13B6A8697C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1A66EA-C1AF-CA81-48D3-6F9EDCB3D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394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CA391-EB2E-5AF7-4CAC-37CFFE227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D2B00C2-5860-8C02-F766-D33A153F95D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EFA46B-8618-2A2C-038B-81AF97941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FF2FD-BEB8-76A7-0043-D304B9CA3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5DA9FC-D560-AD0C-A86F-D82A2DD3A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402665-9C13-F9B8-6CD1-8BA268CDE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2936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DAD9A0-5B33-F9B0-0531-DD1D22649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CB209A-A4FC-127B-1AD0-5C8DFEAD36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72BF9-BD31-9419-76E0-966444C6A5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D8887C-69BF-3122-C9FB-889272776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1897CE-638A-2553-FEE0-1E8607A89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28124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22A2187-0251-6EC2-877E-07AB687B32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0BC7B6-A916-DE79-D0BA-C4F98476554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0B4D5-C740-3153-1F75-4E9322538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6CD624-367B-AA31-70F0-7CA99A4CF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D40873-605D-8A80-BAF3-4DDD6934F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4298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E5D316-907D-CF3D-17AF-A2E13FDF1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60093C-8CB6-C40F-750D-5CF46EBE9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866C82-8E14-7D22-FFF5-B2FA50EDE1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257935-AA50-4C6B-BBDA-2B90FA0B9FA3}" type="datetimeFigureOut">
              <a:rPr lang="en-US" smtClean="0"/>
              <a:t>2/28/2026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0B6F4E-886D-7242-CBEC-609F8E4E85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10EFB0E-BCC9-F3F1-63F0-D353D205F1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B4C127-FF11-4755-9633-A9BCAD4C83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31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C23DF3-DD33-057B-F250-CA298149D6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324" t="130" r="12324" b="2448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EABB2E0-1B1C-C4AD-8150-8B28A469F7C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8000" y="5346699"/>
            <a:ext cx="9144000" cy="944563"/>
          </a:xfrm>
        </p:spPr>
        <p:txBody>
          <a:bodyPr/>
          <a:lstStyle/>
          <a:p>
            <a:pPr algn="r"/>
            <a:r>
              <a:rPr lang="en-US" dirty="0">
                <a:solidFill>
                  <a:schemeClr val="bg2"/>
                </a:solidFill>
              </a:rPr>
              <a:t>The Manley Variable Mu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EE4351-CB39-9E9D-40BE-B87AA28643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8000" y="6383338"/>
            <a:ext cx="9144000" cy="474662"/>
          </a:xfrm>
        </p:spPr>
        <p:txBody>
          <a:bodyPr/>
          <a:lstStyle/>
          <a:p>
            <a:pPr algn="r"/>
            <a:r>
              <a:rPr lang="en-US" dirty="0">
                <a:solidFill>
                  <a:schemeClr val="bg2"/>
                </a:solidFill>
              </a:rPr>
              <a:t>Excellent tube compressor, but not an end-all</a:t>
            </a:r>
          </a:p>
        </p:txBody>
      </p:sp>
      <p:pic>
        <p:nvPicPr>
          <p:cNvPr id="2050" name="Picture 2" descr="Download HD Mew - Pokémon Mew Vector Transparent PNG Image - NicePNG.com">
            <a:extLst>
              <a:ext uri="{FF2B5EF4-FFF2-40B4-BE49-F238E27FC236}">
                <a16:creationId xmlns:a16="http://schemas.microsoft.com/office/drawing/2014/main" id="{82258B8E-F08B-DB80-8415-91F7804A84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06983" y="5991226"/>
            <a:ext cx="2129502" cy="17335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530633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57225-BBAB-735C-A77B-8D538BBD2F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vari-mu?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D22813-8D9D-6ABF-0A7C-FCFCA84879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9752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Vari-mu</a:t>
            </a:r>
          </a:p>
          <a:p>
            <a:pPr marL="0" indent="0">
              <a:buNone/>
            </a:pPr>
            <a:r>
              <a:rPr lang="en-US" dirty="0"/>
              <a:t>	Mu (µ): Commonly refers to gain</a:t>
            </a:r>
          </a:p>
          <a:p>
            <a:pPr marL="0" indent="0">
              <a:buNone/>
            </a:pPr>
            <a:r>
              <a:rPr lang="en-US" dirty="0"/>
              <a:t>	Vari: Variable or changing</a:t>
            </a:r>
          </a:p>
          <a:p>
            <a:pPr marL="0" indent="0">
              <a:buNone/>
            </a:pPr>
            <a:r>
              <a:rPr lang="en-US" dirty="0"/>
              <a:t>Tubes/Valves</a:t>
            </a:r>
          </a:p>
          <a:p>
            <a:pPr marL="0" indent="0">
              <a:buNone/>
            </a:pPr>
            <a:r>
              <a:rPr lang="en-US" dirty="0"/>
              <a:t>	A vacuum tube is used as the gain reduction component</a:t>
            </a:r>
          </a:p>
          <a:p>
            <a:pPr marL="0" indent="0">
              <a:buNone/>
            </a:pPr>
            <a:r>
              <a:rPr lang="en-US" dirty="0"/>
              <a:t>	Other compressors use tubes for make-up gain, but those are 	</a:t>
            </a:r>
            <a:r>
              <a:rPr lang="en-US" i="1" dirty="0"/>
              <a:t>not</a:t>
            </a:r>
            <a:r>
              <a:rPr lang="en-US" dirty="0"/>
              <a:t> vari-mu</a:t>
            </a:r>
          </a:p>
          <a:p>
            <a:pPr marL="0" indent="0">
              <a:buNone/>
            </a:pPr>
            <a:r>
              <a:rPr lang="en-US" dirty="0"/>
              <a:t>Ratio</a:t>
            </a:r>
          </a:p>
          <a:p>
            <a:pPr marL="0" indent="0">
              <a:buNone/>
            </a:pPr>
            <a:r>
              <a:rPr lang="en-US" dirty="0"/>
              <a:t>	Vari-mu compressors are program-dependent, meaning ratio 	is determined by the input signal</a:t>
            </a:r>
          </a:p>
        </p:txBody>
      </p:sp>
    </p:spTree>
    <p:extLst>
      <p:ext uri="{BB962C8B-B14F-4D97-AF65-F5344CB8AC3E}">
        <p14:creationId xmlns:p14="http://schemas.microsoft.com/office/powerpoint/2010/main" val="5584613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EF643F-F1D2-4A77-A8B5-E2C96ECC6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Vacuum Tubes (Valves)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FD95-5A20-9ADD-9273-B5D733DDE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3041"/>
            <a:ext cx="10515600" cy="476402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An electrical device that controls current flow in a sealed vacuum between electrodes.¹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Current between the anode and cathode is</a:t>
            </a:r>
          </a:p>
          <a:p>
            <a:pPr marL="0" indent="0">
              <a:buNone/>
            </a:pPr>
            <a:r>
              <a:rPr lang="en-US" dirty="0"/>
              <a:t>disrupted by the grid. The more input signal that</a:t>
            </a:r>
          </a:p>
          <a:p>
            <a:pPr marL="0" indent="0">
              <a:buNone/>
            </a:pPr>
            <a:r>
              <a:rPr lang="en-US" dirty="0"/>
              <a:t>is applied to the grid, the more current is allowed to</a:t>
            </a:r>
          </a:p>
          <a:p>
            <a:pPr marL="0" indent="0">
              <a:buNone/>
            </a:pPr>
            <a:r>
              <a:rPr lang="en-US" dirty="0"/>
              <a:t>flow.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 that the cathode is heated, which is</a:t>
            </a:r>
          </a:p>
          <a:p>
            <a:pPr marL="0" indent="0">
              <a:buNone/>
            </a:pPr>
            <a:r>
              <a:rPr lang="en-US" dirty="0"/>
              <a:t>why tube products must “warm up.”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D9E3157-64A1-4349-37D1-C62FBD7639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3336" y="2282562"/>
            <a:ext cx="3041904" cy="405181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61B155D-4159-3E50-0545-3063F354C010}"/>
              </a:ext>
            </a:extLst>
          </p:cNvPr>
          <p:cNvSpPr txBox="1"/>
          <p:nvPr/>
        </p:nvSpPr>
        <p:spPr>
          <a:xfrm>
            <a:off x="838200" y="6422175"/>
            <a:ext cx="67696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¹https://foxmusicproduction.com/variable-mu-tube-compressors/</a:t>
            </a:r>
          </a:p>
        </p:txBody>
      </p:sp>
    </p:spTree>
    <p:extLst>
      <p:ext uri="{BB962C8B-B14F-4D97-AF65-F5344CB8AC3E}">
        <p14:creationId xmlns:p14="http://schemas.microsoft.com/office/powerpoint/2010/main" val="1529713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0EE4D-96E5-F2F4-9A45-9FC44501A0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6F2FC2-135D-EF28-86A6-27EBCDE8F6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443859"/>
            <a:ext cx="10515600" cy="20490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Released in 1994</a:t>
            </a:r>
          </a:p>
          <a:p>
            <a:pPr marL="0" indent="0">
              <a:buNone/>
            </a:pPr>
            <a:r>
              <a:rPr lang="en-US" dirty="0"/>
              <a:t>Nonlinear</a:t>
            </a:r>
          </a:p>
          <a:p>
            <a:pPr marL="0" indent="0">
              <a:buNone/>
            </a:pPr>
            <a:r>
              <a:rPr lang="en-US" dirty="0"/>
              <a:t>Program-dependent</a:t>
            </a:r>
          </a:p>
          <a:p>
            <a:pPr marL="0" indent="0">
              <a:buNone/>
            </a:pPr>
            <a:r>
              <a:rPr lang="en-US" dirty="0"/>
              <a:t>Well suited for “gluing” a mix together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F0C474-9FC7-6C18-0E95-5DDCCD2AE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526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8EC012-247E-EA29-672B-044A95AE3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D323-271A-2E02-2539-53FAEE192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E1B4C3DF-2AC8-7A49-F42D-DD4428E5B0A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CF8268A-F238-DD76-637E-B9F3F6D677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C5CEC07C-30A4-5899-B6C9-F8BE7638CE65}"/>
              </a:ext>
            </a:extLst>
          </p:cNvPr>
          <p:cNvSpPr/>
          <p:nvPr/>
        </p:nvSpPr>
        <p:spPr>
          <a:xfrm>
            <a:off x="5004749" y="2818371"/>
            <a:ext cx="589547" cy="58954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C953B78-917B-D4C5-24ED-EB0C2A8E47AF}"/>
              </a:ext>
            </a:extLst>
          </p:cNvPr>
          <p:cNvSpPr/>
          <p:nvPr/>
        </p:nvSpPr>
        <p:spPr>
          <a:xfrm>
            <a:off x="4243457" y="2212527"/>
            <a:ext cx="447416" cy="4474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A120C08-3C2D-4F5B-DCA6-0220A59C9555}"/>
              </a:ext>
            </a:extLst>
          </p:cNvPr>
          <p:cNvSpPr txBox="1"/>
          <p:nvPr/>
        </p:nvSpPr>
        <p:spPr>
          <a:xfrm>
            <a:off x="838200" y="3581400"/>
            <a:ext cx="457504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/>
              <a:t>Attack: 25ms – 70ms</a:t>
            </a:r>
          </a:p>
          <a:p>
            <a:pPr>
              <a:lnSpc>
                <a:spcPct val="150000"/>
              </a:lnSpc>
            </a:pPr>
            <a:r>
              <a:rPr lang="en-US" sz="3200" dirty="0"/>
              <a:t>Recovery (Release):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VERY SLOW 		8 seconds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SLOW 		4 seconds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MEDIUM 		600 </a:t>
            </a:r>
            <a:r>
              <a:rPr lang="en-US" sz="2000" dirty="0" err="1"/>
              <a:t>ms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FAST 		400 </a:t>
            </a:r>
            <a:r>
              <a:rPr lang="en-US" sz="2000" dirty="0" err="1"/>
              <a:t>ms</a:t>
            </a:r>
            <a:endParaRPr lang="en-US" sz="20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000" dirty="0"/>
              <a:t>VERY FAST 		200 </a:t>
            </a:r>
            <a:r>
              <a:rPr lang="en-US" sz="2000" dirty="0" err="1"/>
              <a:t>ms</a:t>
            </a:r>
            <a:endParaRPr 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5A046C-2533-9B43-EEDB-DCA1E5BC2C71}"/>
              </a:ext>
            </a:extLst>
          </p:cNvPr>
          <p:cNvSpPr txBox="1"/>
          <p:nvPr/>
        </p:nvSpPr>
        <p:spPr>
          <a:xfrm>
            <a:off x="8147304" y="5732859"/>
            <a:ext cx="3206496" cy="7600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dirty="0"/>
              <a:t>(pretty slow)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023239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1E602-249E-6021-BEFE-1475F6E9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A5064-F5AD-938C-BD78-AC0E2A26A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B08E4299-AEFA-0E8D-3982-8394D97465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380CCC3-9BDF-DDB5-B2E9-6F86248CEA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DEF5DA31-D2AD-6257-19A9-0100893BEF60}"/>
              </a:ext>
            </a:extLst>
          </p:cNvPr>
          <p:cNvSpPr/>
          <p:nvPr/>
        </p:nvSpPr>
        <p:spPr>
          <a:xfrm>
            <a:off x="4202871" y="2821165"/>
            <a:ext cx="589547" cy="58954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6D3472-DFE7-07DA-B991-781EE679A0AD}"/>
              </a:ext>
            </a:extLst>
          </p:cNvPr>
          <p:cNvSpPr txBox="1"/>
          <p:nvPr/>
        </p:nvSpPr>
        <p:spPr>
          <a:xfrm>
            <a:off x="838200" y="3581400"/>
            <a:ext cx="10040112" cy="14986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/>
              <a:t>Threshold: The lower the threshold, the more that gets compressed.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4310912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9DE71-BEC4-C57A-3F22-4E8BBB856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746FD-2DE6-E9FC-B436-2653EDE65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09A7DFE8-4FE9-58A6-23C6-D8AFC241FA27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42E0752-C5A2-B228-F1CC-6CEC0D24A4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879D261-DBDC-D5BE-342D-3CD1EE9B0424}"/>
              </a:ext>
            </a:extLst>
          </p:cNvPr>
          <p:cNvSpPr txBox="1"/>
          <p:nvPr/>
        </p:nvSpPr>
        <p:spPr>
          <a:xfrm>
            <a:off x="838200" y="3581400"/>
            <a:ext cx="10515600" cy="1415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/>
              <a:t>Dual Input (Input Gain): </a:t>
            </a:r>
            <a:r>
              <a:rPr lang="en-US" sz="2800" dirty="0"/>
              <a:t>attenuation of input signal entering the amplifier limiting circuitry.</a:t>
            </a:r>
            <a:r>
              <a:rPr lang="en-US" sz="2000" dirty="0"/>
              <a:t>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1A5C8AA-629A-7EF6-8D5A-771230AB6289}"/>
              </a:ext>
            </a:extLst>
          </p:cNvPr>
          <p:cNvSpPr txBox="1"/>
          <p:nvPr/>
        </p:nvSpPr>
        <p:spPr>
          <a:xfrm>
            <a:off x="838200" y="6422175"/>
            <a:ext cx="11113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¹https://images.equipboard.com/uploads/item/manual/28965/manley-stereo-variable-mu-manual.pdf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C0E68E4-707F-EDEA-0497-C7F3E11F6EB4}"/>
              </a:ext>
            </a:extLst>
          </p:cNvPr>
          <p:cNvSpPr/>
          <p:nvPr/>
        </p:nvSpPr>
        <p:spPr>
          <a:xfrm>
            <a:off x="5880233" y="2194239"/>
            <a:ext cx="447416" cy="4474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4741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A6395-7472-1F0E-AE94-8DF765EE2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89749-6609-A54F-7256-D28415795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F5476092-B763-F352-EBEE-73F3FCC318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2DEFCA-31D2-7603-3C60-99F104BE2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D534A714-DA26-BBE3-16B2-C93B48C0365E}"/>
              </a:ext>
            </a:extLst>
          </p:cNvPr>
          <p:cNvSpPr/>
          <p:nvPr/>
        </p:nvSpPr>
        <p:spPr>
          <a:xfrm>
            <a:off x="4998399" y="2098789"/>
            <a:ext cx="589547" cy="589547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71F515A-9511-CF44-2AFB-096F07C52722}"/>
              </a:ext>
            </a:extLst>
          </p:cNvPr>
          <p:cNvSpPr txBox="1"/>
          <p:nvPr/>
        </p:nvSpPr>
        <p:spPr>
          <a:xfrm>
            <a:off x="838200" y="3581400"/>
            <a:ext cx="10515600" cy="20615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/>
              <a:t>Output Attenuate: </a:t>
            </a:r>
            <a:r>
              <a:rPr lang="en-US" sz="2800" dirty="0"/>
              <a:t>attenuation of output signal leaving the amplifier circuitry. Full attenuation occurs at the counterclockwise position.</a:t>
            </a:r>
            <a:r>
              <a:rPr lang="en-US" sz="2000" dirty="0"/>
              <a:t>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B88CF0-6486-7779-7AD4-01F23A9857F8}"/>
              </a:ext>
            </a:extLst>
          </p:cNvPr>
          <p:cNvSpPr txBox="1"/>
          <p:nvPr/>
        </p:nvSpPr>
        <p:spPr>
          <a:xfrm>
            <a:off x="838200" y="6422175"/>
            <a:ext cx="11113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¹https://images.equipboard.com/uploads/item/manual/28965/manley-stereo-variable-mu-manual.pdf</a:t>
            </a:r>
          </a:p>
        </p:txBody>
      </p:sp>
    </p:spTree>
    <p:extLst>
      <p:ext uri="{BB962C8B-B14F-4D97-AF65-F5344CB8AC3E}">
        <p14:creationId xmlns:p14="http://schemas.microsoft.com/office/powerpoint/2010/main" val="25331989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99BE75-83B9-BEC7-7A74-9C17BEFF3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35E5E-83BC-A04B-9931-9789EFACC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90EC419D-BCDF-74D8-0237-2D4718D09F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A3DA014-C1B0-3E94-8CF1-4C5092B858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D73EA33-C4BC-D719-9E89-5652C3E92FCE}"/>
              </a:ext>
            </a:extLst>
          </p:cNvPr>
          <p:cNvSpPr txBox="1"/>
          <p:nvPr/>
        </p:nvSpPr>
        <p:spPr>
          <a:xfrm>
            <a:off x="838200" y="3581400"/>
            <a:ext cx="10515600" cy="32618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800" dirty="0"/>
              <a:t>Where’s the ratio control?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	Remember, ratio is determined by the input signal. If you want 	harsher compression, send more input gain.</a:t>
            </a:r>
          </a:p>
          <a:p>
            <a:pPr>
              <a:lnSpc>
                <a:spcPct val="150000"/>
              </a:lnSpc>
            </a:pPr>
            <a:endParaRPr lang="en-US" sz="2800" dirty="0"/>
          </a:p>
          <a:p>
            <a:pPr>
              <a:lnSpc>
                <a:spcPct val="150000"/>
              </a:lnSpc>
            </a:pPr>
            <a:r>
              <a:rPr lang="en-US" sz="2800" dirty="0"/>
              <a:t>One small exception…</a:t>
            </a:r>
            <a:endParaRPr lang="en-US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316A541-025A-DEB6-0749-45DCE2131885}"/>
              </a:ext>
            </a:extLst>
          </p:cNvPr>
          <p:cNvSpPr/>
          <p:nvPr/>
        </p:nvSpPr>
        <p:spPr>
          <a:xfrm>
            <a:off x="5880233" y="2194239"/>
            <a:ext cx="447416" cy="44741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3234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0B3A-84E3-1AF6-112B-EC40C498B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C6744-686E-0421-99A2-95B87A9B1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Manley Variable Mu</a:t>
            </a:r>
          </a:p>
        </p:txBody>
      </p:sp>
      <p:sp>
        <p:nvSpPr>
          <p:cNvPr id="7" name="AutoShape 2" descr="Image">
            <a:extLst>
              <a:ext uri="{FF2B5EF4-FFF2-40B4-BE49-F238E27FC236}">
                <a16:creationId xmlns:a16="http://schemas.microsoft.com/office/drawing/2014/main" id="{7D352224-49AD-0D91-98B0-8DC081748F8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6BDC42A-36D8-E075-A367-03E26C557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11389"/>
            <a:ext cx="12192000" cy="419892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6B8806C-4991-FBC3-A9C3-6FD604FB1074}"/>
              </a:ext>
            </a:extLst>
          </p:cNvPr>
          <p:cNvSpPr txBox="1"/>
          <p:nvPr/>
        </p:nvSpPr>
        <p:spPr>
          <a:xfrm>
            <a:off x="838200" y="3581400"/>
            <a:ext cx="10515600" cy="14151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dirty="0"/>
              <a:t>Limit/Compress:</a:t>
            </a:r>
            <a:r>
              <a:rPr lang="en-US" sz="2800" dirty="0"/>
              <a:t> Selects compression ( 1.5:1) or limiting (4:1) function. Compress is soft-knee, Limit is a sharper knee.¹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17C809-8165-6E11-8DEA-E2F8B50596F0}"/>
              </a:ext>
            </a:extLst>
          </p:cNvPr>
          <p:cNvSpPr txBox="1"/>
          <p:nvPr/>
        </p:nvSpPr>
        <p:spPr>
          <a:xfrm>
            <a:off x="838200" y="6422175"/>
            <a:ext cx="111130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¹https://images.equipboard.com/uploads/item/manual/28965/manley-stereo-variable-mu-manual.pdf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F2CA55A-D6A5-6C1E-AA50-0B8B46D4954D}"/>
              </a:ext>
            </a:extLst>
          </p:cNvPr>
          <p:cNvSpPr/>
          <p:nvPr/>
        </p:nvSpPr>
        <p:spPr>
          <a:xfrm>
            <a:off x="3673810" y="2848130"/>
            <a:ext cx="233398" cy="233398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30022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8AC51-2A19-05BB-9C52-104EDEFDC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 Mastering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231B47-CF20-324C-463A-E1FC867A7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Manley Variable Mu provides gentle, warm tube compression.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Slow attack times mean smooth transitions without damaging dynamic range.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Produces sought-after tube saturation.</a:t>
            </a:r>
          </a:p>
        </p:txBody>
      </p:sp>
    </p:spTree>
    <p:extLst>
      <p:ext uri="{BB962C8B-B14F-4D97-AF65-F5344CB8AC3E}">
        <p14:creationId xmlns:p14="http://schemas.microsoft.com/office/powerpoint/2010/main" val="1640717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E582-C25E-1200-047D-BFE1246BF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Attack – a strength and a weakness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44530-3CC6-CBFE-6EF5-4DD79554A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35608"/>
            <a:ext cx="10515600" cy="52212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Slow attack can be great for gently treating a mix bus without noticeably hurting the dynamic range.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However, the Manley Variable Mu’s slow attack times make it less useful for rapid transients.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For comparison, the UA1176 has attack times in the microseconds, which is something the Variable Mu cannot compete with.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Be careful with the settings if using the Variable Mu on sharp transient signals.</a:t>
            </a:r>
          </a:p>
        </p:txBody>
      </p:sp>
    </p:spTree>
    <p:extLst>
      <p:ext uri="{BB962C8B-B14F-4D97-AF65-F5344CB8AC3E}">
        <p14:creationId xmlns:p14="http://schemas.microsoft.com/office/powerpoint/2010/main" val="4045214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BDBFA0-E1B6-F81D-F140-EDFA5CF4D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The Manley Variable Mu is not designed to solve every problem, but its strengths make it a great vari-mu mastering compressor.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Understanding both its capabilities and its limitations is what ultimately allows it to serve the mix rather than reshape it.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B37261A-3F85-3E31-8A6D-CDCE8E778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The Manley Variable Mu</a:t>
            </a:r>
          </a:p>
        </p:txBody>
      </p:sp>
    </p:spTree>
    <p:extLst>
      <p:ext uri="{BB962C8B-B14F-4D97-AF65-F5344CB8AC3E}">
        <p14:creationId xmlns:p14="http://schemas.microsoft.com/office/powerpoint/2010/main" val="2626123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139</TotalTime>
  <Words>559</Words>
  <Application>Microsoft Office PowerPoint</Application>
  <PresentationFormat>Widescreen</PresentationFormat>
  <Paragraphs>70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The Manley Variable Mu</vt:lpstr>
      <vt:lpstr>What makes a vari-mu?</vt:lpstr>
      <vt:lpstr>Vacuum Tubes (Valves)</vt:lpstr>
      <vt:lpstr>The Manley Variable Mu</vt:lpstr>
      <vt:lpstr>The Manley Variable Mu</vt:lpstr>
      <vt:lpstr>The Manley Variable Mu</vt:lpstr>
      <vt:lpstr>The Manley Variable Mu</vt:lpstr>
      <vt:lpstr>The Manley Variable Mu</vt:lpstr>
      <vt:lpstr>The Manley Variable Mu</vt:lpstr>
      <vt:lpstr>The Manley Variable Mu</vt:lpstr>
      <vt:lpstr>For Mastering</vt:lpstr>
      <vt:lpstr>Attack – a strength and a weakness</vt:lpstr>
      <vt:lpstr>The Manley Variable Mu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Whitney Schramm</dc:creator>
  <cp:lastModifiedBy>Whitney Schramm</cp:lastModifiedBy>
  <cp:revision>5</cp:revision>
  <dcterms:created xsi:type="dcterms:W3CDTF">2026-02-26T18:52:20Z</dcterms:created>
  <dcterms:modified xsi:type="dcterms:W3CDTF">2026-02-28T21:29:04Z</dcterms:modified>
</cp:coreProperties>
</file>